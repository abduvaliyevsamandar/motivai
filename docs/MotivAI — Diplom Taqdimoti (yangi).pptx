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49240" y="731520"/>
            <a:ext cx="1508760" cy="1508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49240" y="868680"/>
            <a:ext cx="15087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4F46E5"/>
                </a:solidFill>
                <a:latin typeface="Calibri"/>
              </a:rPr>
              <a:t>M↑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MotivAI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E0E7FF"/>
                </a:solidFill>
                <a:latin typeface="Calibri"/>
              </a:rPr>
              <a:t>Sun'iy intellekt asosida talabalar motivatsiyasini boshqaruvchi mobil platforma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4F46E5"/>
                </a:solidFill>
                <a:latin typeface="Calibri"/>
              </a:rPr>
              <a:t>DIPLOM LOYIHASI HIMOYASI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800600"/>
            <a:ext cx="57607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8920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Bitiruvchi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16636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Abduvaliyev Samandar Qobil o'g'li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57784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Rahbar: Sodiqov V.S.   ·   Yo'nalish: 60610500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852160"/>
            <a:ext cx="5760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TATU · Toshkent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Muammoning dolzarbligi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Talabalarda motivatsiya pasayishi — global va mahalliy kontekst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1554480" cy="15544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554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53%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Motivatsion qiyinchiliklar (UNESCO 2023)</a:t>
            </a:r>
          </a:p>
        </p:txBody>
      </p:sp>
      <p:sp>
        <p:nvSpPr>
          <p:cNvPr id="8" name="Oval 7"/>
          <p:cNvSpPr/>
          <p:nvPr/>
        </p:nvSpPr>
        <p:spPr>
          <a:xfrm>
            <a:off x="4526280" y="1645920"/>
            <a:ext cx="1554480" cy="1554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1554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33756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Ikkinchi semestrgacha pasayish (TATU 2022)</a:t>
            </a:r>
          </a:p>
        </p:txBody>
      </p:sp>
      <p:sp>
        <p:nvSpPr>
          <p:cNvPr id="11" name="Oval 10"/>
          <p:cNvSpPr/>
          <p:nvPr/>
        </p:nvSpPr>
        <p:spPr>
          <a:xfrm>
            <a:off x="8321040" y="1645920"/>
            <a:ext cx="1554480" cy="15544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1554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337560"/>
            <a:ext cx="1554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Ta'lim maqsadlaridan uzilish xavfi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Calibri"/>
              </a:rPr>
              <a:t>Yechim: shaxsiylashtirilgan motivatsion platforma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>
                <a:solidFill>
                  <a:srgbClr val="1F2937"/>
                </a:solidFill>
                <a:latin typeface="Calibri"/>
              </a:rPr>
              <a:t>AI orqali har kuni shaxsiy vazifa rejasi tuziladi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>
                <a:solidFill>
                  <a:srgbClr val="1F2937"/>
                </a:solidFill>
                <a:latin typeface="Calibri"/>
              </a:rPr>
              <a:t>Gamifikatsiya (streak, XP, daraja) — barqaror ishtirok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4F46E5"/>
                </a:solidFill>
                <a:latin typeface="Calibri"/>
              </a:rPr>
              <a:t>•  </a:t>
            </a:r>
            <a:r>
              <a:rPr sz="1300">
                <a:solidFill>
                  <a:srgbClr val="1F2937"/>
                </a:solidFill>
                <a:latin typeface="Calibri"/>
              </a:rPr>
              <a:t>O'zbek tilida, mahalliy kontekstga moslashgan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Maqsad va vazifalar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0E7FF"/>
                </a:solidFill>
                <a:latin typeface="Calibri"/>
              </a:rPr>
              <a:t>MAQSAD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Sun'iy intellekt orqali talabaning shaxsiy motivatsiya rejasini har kuni avtomatik tuzib beruvchi va gamifikatsiya orqali barqaror ishtirokni ta'minlovchi cross-platform mobil ilovani ishlab chiqish.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ASOSIY VAZIFALAR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564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42900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Tavsiya tizimlari va ta'limda AI yo'nalishlarining nazariy tahlili</a:t>
            </a:r>
          </a:p>
        </p:txBody>
      </p:sp>
      <p:sp>
        <p:nvSpPr>
          <p:cNvPr id="11" name="Oval 10"/>
          <p:cNvSpPr/>
          <p:nvPr/>
        </p:nvSpPr>
        <p:spPr>
          <a:xfrm>
            <a:off x="6172200" y="338328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34564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42900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MVF (Motivatsion Qiymat Funksiyasi) matematik modelini shakllantirish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708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34340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Flutter (Dart) bilan iOS+Android uchun mobil ilovani ishlab chiqish</a:t>
            </a:r>
          </a:p>
        </p:txBody>
      </p:sp>
      <p:sp>
        <p:nvSpPr>
          <p:cNvPr id="17" name="Oval 16"/>
          <p:cNvSpPr/>
          <p:nvPr/>
        </p:nvSpPr>
        <p:spPr>
          <a:xfrm>
            <a:off x="6172200" y="429768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43708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34340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FastAPI orqali modulli RESTful API arxitekturasini yaratish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21208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852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25780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MongoDB Atlas ma'lumotlar bazasini loyihalash va indekslash</a:t>
            </a:r>
          </a:p>
        </p:txBody>
      </p:sp>
      <p:sp>
        <p:nvSpPr>
          <p:cNvPr id="23" name="Oval 22"/>
          <p:cNvSpPr/>
          <p:nvPr/>
        </p:nvSpPr>
        <p:spPr>
          <a:xfrm>
            <a:off x="6172200" y="5212080"/>
            <a:ext cx="502920" cy="5029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52852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25780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Ko'p providerli AI fallback chain (OpenAI/Gemini/Groq) integratsiyasi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Tizim arxitekturasi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Uch qatlamli klassik dizayn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91640"/>
            <a:ext cx="941832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691640"/>
            <a:ext cx="137160" cy="11887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856232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4F46E5"/>
                </a:solidFill>
                <a:latin typeface="Calibri"/>
              </a:rPr>
              <a:t>MIJOZ QATLAMI · Flutter (Dart)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3774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Dashboard · AI Chat · Leaderboard · Progress · Profile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2880360"/>
            <a:ext cx="0" cy="228600"/>
          </a:xfrm>
          <a:prstGeom prst="bentConnector3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3108960"/>
            <a:ext cx="941832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3108960"/>
            <a:ext cx="137160" cy="1188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3273552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BIZNES MANTIQ · FastAPI (Python)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7947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Auth · Tasks · Chat · AI · MVF · Gamification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4297680"/>
            <a:ext cx="0" cy="228600"/>
          </a:xfrm>
          <a:prstGeom prst="bentConnector3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371600" y="4526280"/>
            <a:ext cx="941832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526280"/>
            <a:ext cx="137160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4690872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MA'LUMOTLAR · MongoDB Atlas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2120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users · tasks · progress · chat_sessions · motivation_plans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803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HTTPS / JWT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Motor (async)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Har qatlam mustaqil — alohida testlanadi, monitoring qilinadi, miqyoslanadi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Texnologik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Zamonaviy, asoslangan tanlovlar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Mobile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Calibri"/>
              </a:rPr>
              <a:t>Flutter 3.16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Dart · hot reload · 1 codebase iOS+Android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74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Calibri"/>
              </a:rPr>
              <a:t>FastAPI 0.111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3464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ASGI · Pydantic v2 · auto-docs (/docs)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9164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74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2402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MongoDB Atlas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83464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M0 Singapore · Motor async · 5 collections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69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AI (multi-LLM)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3 providers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OpenAI gpt-4o-mini → Gemini → Groq Llama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88620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069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348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A5E9"/>
                </a:solidFill>
                <a:latin typeface="Calibri"/>
              </a:rPr>
              <a:t>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2920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Auto HTTPS · CI/CD on git push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88620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069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43484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Calibri"/>
              </a:rPr>
              <a:t>JWT + bcrypt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029200"/>
            <a:ext cx="3291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HMAC-SHA256 · work factor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Foydalanuvchi arxetiplari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K-means klasterlash (K=5, silhouette = 0.62)</a:t>
            </a:r>
          </a:p>
        </p:txBody>
      </p:sp>
      <p:sp>
        <p:nvSpPr>
          <p:cNvPr id="5" name="Oval 4"/>
          <p:cNvSpPr/>
          <p:nvPr/>
        </p:nvSpPr>
        <p:spPr>
          <a:xfrm>
            <a:off x="1325880" y="18288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74519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0B981"/>
                </a:solidFill>
                <a:latin typeface="Calibri"/>
              </a:rPr>
              <a:t>Boshlang'ich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Beginner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20440"/>
            <a:ext cx="1645920" cy="41148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Vazifa = 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148840"/>
            <a:ext cx="109728" cy="0"/>
          </a:xfrm>
          <a:prstGeom prst="bentConnector3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630168" y="1828800"/>
            <a:ext cx="640080" cy="6400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1874519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2651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EA5E9"/>
                </a:solidFill>
                <a:latin typeface="Calibri"/>
              </a:rPr>
              <a:t>Tadqiqotchi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3017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Explorer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27248" y="3520440"/>
            <a:ext cx="1645920" cy="41148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27248" y="35661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Haftalik &lt; 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47488" y="2148840"/>
            <a:ext cx="109728" cy="0"/>
          </a:xfrm>
          <a:prstGeom prst="bentConnector3">
            <a:avLst/>
          </a:prstGeom>
          <a:ln w="25400">
            <a:solidFill>
              <a:srgbClr val="0EA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934456" y="18288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1874519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2651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7C3AED"/>
                </a:solidFill>
                <a:latin typeface="Calibri"/>
              </a:rPr>
              <a:t>Izchil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017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Consistent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31536" y="3520440"/>
            <a:ext cx="164592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31536" y="35661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Streak ≥ 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51776" y="2148840"/>
            <a:ext cx="109728" cy="0"/>
          </a:xfrm>
          <a:prstGeom prst="bentConnector3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38744" y="182880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8744" y="1874519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2651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alibri"/>
              </a:rPr>
              <a:t>Muvaffaqiyatli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3017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Achiever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35824" y="3520440"/>
            <a:ext cx="1645920" cy="41148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35824" y="35661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Haftalik &gt; 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56064" y="2148840"/>
            <a:ext cx="109728" cy="0"/>
          </a:xfrm>
          <a:prstGeom prst="bentConnector3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543032" y="182880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43032" y="1874519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6517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EF4444"/>
                </a:solidFill>
                <a:latin typeface="Calibri"/>
              </a:rPr>
              <a:t>Chempion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30175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Champion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40112" y="3520440"/>
            <a:ext cx="1645920" cy="41148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0112" y="35661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Streak ≥ 14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526280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4663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Har arxetip uchun maxsus motivatsion strategiya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074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Boshlang'ich → oson vazifalar, katta XP mukofotlar, onboarding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Chempion → ekspert qiyinligi, global reyting, 4× XP multiplikator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Arxetip har 6 soatda qayta hisoblab boriladi — dinamik moslashish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MVF — Motivatsion Qiymat Funksiyasi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To'rt komponentli gibrid model · NDCG@5 = 0.78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00200"/>
            <a:ext cx="9966960" cy="77724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9966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MVF(u, t, C)  =  0.25·CS  +  0.25·CF  +  0.35·DM  +  0.15·TS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26517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8760" y="2926080"/>
            <a:ext cx="731520" cy="7315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30175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4F46E5"/>
                </a:solidFill>
                <a:latin typeface="Calibri"/>
              </a:rPr>
              <a:t>Kontent o'xshashlik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og'irlik 0.25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Kosinusli o'xshashlik · 9D vektor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743200"/>
            <a:ext cx="26517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43400" y="292608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0175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79476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Kollaborativ filtr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1605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og'irlik 0.25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572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K-NN (K=20) · Pearson korrelyatsiya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26517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78040" y="292608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0175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79476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Qiyinlilik mosligi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1605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og'irlik 0.35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Gauss · δ=2 daraja · Flow nazariyasi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743200"/>
            <a:ext cx="26517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12680" y="292608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301752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79476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Vaqtinchalik kontekst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16052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og'irlik 0.15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45720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Calibri"/>
              </a:rPr>
              <a:t>Logistik regressiya · CARS paradigmasi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321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Nazariy asos: Self-Determination Theory (SDT) + Flow Theory (Csikszentmihalyi)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Natija: kunlik K = 5 ta eng mos vazifa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Foydalanuvchi tajriba tsikli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6 bosqichli motivatsion zanjir</a:t>
            </a:r>
          </a:p>
        </p:txBody>
      </p:sp>
      <p:sp>
        <p:nvSpPr>
          <p:cNvPr id="5" name="Oval 4"/>
          <p:cNvSpPr/>
          <p:nvPr/>
        </p:nvSpPr>
        <p:spPr>
          <a:xfrm>
            <a:off x="1051560" y="2194560"/>
            <a:ext cx="685800" cy="6858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40280"/>
            <a:ext cx="685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16916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691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4F46E5"/>
                </a:solidFill>
                <a:latin typeface="Calibri"/>
              </a:rPr>
              <a:t>Vazifa
tanlash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F2937"/>
                </a:solidFill>
                <a:latin typeface="Calibri"/>
              </a:rPr>
              <a:t>MVF kunlik 5 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2560320"/>
            <a:ext cx="91440" cy="0"/>
          </a:xfrm>
          <a:prstGeom prst="bentConnector3">
            <a:avLst/>
          </a:prstGeom>
          <a:ln w="254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834640" y="2194560"/>
            <a:ext cx="685800" cy="6858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240280"/>
            <a:ext cx="685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3108960"/>
            <a:ext cx="16916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3246120"/>
            <a:ext cx="1691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Calibri"/>
              </a:rPr>
              <a:t>Bajarish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160520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F2937"/>
                </a:solidFill>
                <a:latin typeface="Calibri"/>
              </a:rPr>
              <a:t>Timer + UI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23360" y="2560320"/>
            <a:ext cx="91440" cy="0"/>
          </a:xfrm>
          <a:prstGeom prst="bentConnector3">
            <a:avLst/>
          </a:prstGeom>
          <a:ln w="254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617720" y="2194560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240280"/>
            <a:ext cx="685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3108960"/>
            <a:ext cx="16916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3246120"/>
            <a:ext cx="1691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XP mukofot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160520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F2937"/>
                </a:solidFill>
                <a:latin typeface="Calibri"/>
              </a:rPr>
              <a:t>Qiyinlik × Streak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06440" y="2560320"/>
            <a:ext cx="91440" cy="0"/>
          </a:xfrm>
          <a:prstGeom prst="bentConnector3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400800" y="2194560"/>
            <a:ext cx="685800" cy="6858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240280"/>
            <a:ext cx="685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3108960"/>
            <a:ext cx="16916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3246120"/>
            <a:ext cx="1691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Daraja
o'sishi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160520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F2937"/>
                </a:solidFill>
                <a:latin typeface="Calibri"/>
              </a:rPr>
              <a:t>XP → keyingi level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89520" y="2560320"/>
            <a:ext cx="91440" cy="0"/>
          </a:xfrm>
          <a:prstGeom prst="bentConnector3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183880" y="2194560"/>
            <a:ext cx="685800" cy="68580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2240280"/>
            <a:ext cx="685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3108960"/>
            <a:ext cx="16916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3246120"/>
            <a:ext cx="1691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F4444"/>
                </a:solidFill>
                <a:latin typeface="Calibri"/>
              </a:rPr>
              <a:t>Yutuq
nishonlari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160520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F2937"/>
                </a:solidFill>
                <a:latin typeface="Calibri"/>
              </a:rPr>
              <a:t>8 kategoriya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72600" y="2560320"/>
            <a:ext cx="91440" cy="0"/>
          </a:xfrm>
          <a:prstGeom prst="bentConnector3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9966960" y="2194560"/>
            <a:ext cx="685800" cy="68580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2240280"/>
            <a:ext cx="685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3108960"/>
            <a:ext cx="16916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64040" y="3246120"/>
            <a:ext cx="1691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A5E9"/>
                </a:solidFill>
                <a:latin typeface="Calibri"/>
              </a:rPr>
              <a:t>Reyting va
raqobat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4160520"/>
            <a:ext cx="1691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1F2937"/>
                </a:solidFill>
                <a:latin typeface="Calibri"/>
              </a:rPr>
              <a:t>Global + haftalik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6B7280"/>
                </a:solidFill>
                <a:latin typeface="Calibri"/>
              </a:rPr>
              <a:t>Tsikl yopiq — 6-bosqich avtomatik 1-bosqichga qaytaradi (har kun)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AI Chat — ko'p providerli fallback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Eng katta innovatsion yechim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4688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048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2468880" cy="457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5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599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F4444"/>
                </a:solidFill>
                <a:latin typeface="Calibri"/>
              </a:rPr>
              <a:t>gpt-4o-mini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19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Birinchi navbat
1,8 sek o'rtacha</a:t>
            </a:r>
          </a:p>
        </p:txBody>
      </p:sp>
      <p:sp>
        <p:nvSpPr>
          <p:cNvPr id="10" name="Oval 9"/>
          <p:cNvSpPr/>
          <p:nvPr/>
        </p:nvSpPr>
        <p:spPr>
          <a:xfrm>
            <a:off x="1600200" y="4343399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4416551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428999"/>
            <a:ext cx="365760" cy="0"/>
          </a:xfrm>
          <a:prstGeom prst="bentConnector3">
            <a:avLst/>
          </a:prstGeom>
          <a:ln w="317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1874519"/>
            <a:ext cx="24688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874519"/>
            <a:ext cx="246888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96595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514599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  <a:latin typeface="Calibri"/>
              </a:rPr>
              <a:t>Gemini 2.0 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46119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Quota tugasa
1500/kun bepul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4343399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416551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0" y="3428999"/>
            <a:ext cx="365760" cy="0"/>
          </a:xfrm>
          <a:prstGeom prst="bentConnector3">
            <a:avLst/>
          </a:prstGeom>
          <a:ln w="317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09360" y="1874519"/>
            <a:ext cx="24688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048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874519"/>
            <a:ext cx="2468880" cy="457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96595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Groq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514599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EA5E9"/>
                </a:solidFill>
                <a:latin typeface="Calibri"/>
              </a:rPr>
              <a:t>Llama 3.3 70B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246119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Ikkinchi quota
30/min · juda tez</a:t>
            </a:r>
          </a:p>
        </p:txBody>
      </p:sp>
      <p:sp>
        <p:nvSpPr>
          <p:cNvPr id="26" name="Oval 25"/>
          <p:cNvSpPr/>
          <p:nvPr/>
        </p:nvSpPr>
        <p:spPr>
          <a:xfrm>
            <a:off x="7269480" y="4343399"/>
            <a:ext cx="548640" cy="5486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4416551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78240" y="3428999"/>
            <a:ext cx="365760" cy="0"/>
          </a:xfrm>
          <a:prstGeom prst="bentConnector3">
            <a:avLst/>
          </a:prstGeom>
          <a:ln w="317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144000" y="1874519"/>
            <a:ext cx="24688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048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1874519"/>
            <a:ext cx="24688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96595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Fallback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14599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Calibri"/>
              </a:rPr>
              <a:t>Rule-based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246119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1F2937"/>
                </a:solidFill>
                <a:latin typeface="Calibri"/>
              </a:rPr>
              <a:t>Hammasi tugasa
offline ishlaydi</a:t>
            </a:r>
          </a:p>
        </p:txBody>
      </p:sp>
      <p:sp>
        <p:nvSpPr>
          <p:cNvPr id="34" name="Oval 33"/>
          <p:cNvSpPr/>
          <p:nvPr/>
        </p:nvSpPr>
        <p:spPr>
          <a:xfrm>
            <a:off x="10104120" y="4343399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20" y="4416551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4589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99.6% uptime kafolat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OpenAI kvota cheklovlariga bog'liqlik 90%+ qisqartirildi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MongoDB Atlas — 5 kolleksiya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Embedded + referenced gibrid yondashuv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109728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4F46E5"/>
                </a:solidFill>
                <a:latin typeface="Calibri"/>
              </a:rPr>
              <a:t>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892808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9385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11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856232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email idx · embedded badges/preferences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0604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06040"/>
            <a:ext cx="109728" cy="7772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706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Calibri"/>
              </a:rPr>
              <a:t>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2807208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8529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9 field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770632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category · difficulty · xp_reward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044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20440"/>
            <a:ext cx="109728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850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progress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721608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37673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 field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685032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{user_id, completed_at} compound idx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109728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994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chat_sessions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4636008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0" y="46817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 field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4599432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embedded messages (≤100 / hujjat)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86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349240"/>
            <a:ext cx="109728" cy="777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51383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  <a:latin typeface="Calibri"/>
              </a:rPr>
              <a:t>motivation_plans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0" y="5550408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559612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 field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5513832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AI generatsiya natijalari · TTL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M0 bepul tier · Singapore region · avtomatik backup · at-rest shifrlash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Gamifikatsiya formulalari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Psixologik nazariyalarga asoslangan dizayn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XP HISOBLASH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XP = base × D_mult × SB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D_mult: easy 1.0 · medium 1.5 · hard 2.5 · expert 4.0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SB(s) = min(1.5, 1 + 0.05·s) — streak bonusi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DARAJA TIZIMI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Calibri"/>
              </a:rPr>
              <a:t>Level: 1 → 20 (eksponensial)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9260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Past darajalarda kam XP — tez progress hissi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4F46E5"/>
                </a:solidFill>
                <a:latin typeface="Calibri"/>
              </a:rPr>
              <a:t>•  </a:t>
            </a:r>
            <a:r>
              <a:rPr sz="1100">
                <a:solidFill>
                  <a:srgbClr val="1F2937"/>
                </a:solidFill>
                <a:latin typeface="Calibri"/>
              </a:rPr>
              <a:t>Yuqori darajalarda ko'p XP — maqsad balandligi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STREAK SAQLASH MEXANIZMI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Har kuni minimum 1 vazifa — streak davom etadi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Streak Freeze: bir kun ko'tarib yuborilsa ham streak buzilmaydi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10 kundan keyin SB maksimum 1.5× ga to'xtaydi — fairness saqlanadi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Streak nolga tushganda re-engagement strategy aktivlashtiriladi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RESTful API arxitekturasi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33 endpoint · 6 router · P95 ≤ 300 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4F46E5"/>
                </a:solidFill>
                <a:latin typeface="Calibri"/>
              </a:rPr>
              <a:t>/auth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 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register · login · profile · password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2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7C3AED"/>
                </a:solidFill>
                <a:latin typeface="Calibri"/>
              </a:rPr>
              <a:t>/tasks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6888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51460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 endpoint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260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daily · recommended · complete · from-chat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87452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F4444"/>
                </a:solidFill>
                <a:latin typeface="Calibri"/>
              </a:rPr>
              <a:t>/ai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46888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51460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 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92608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chat · add-tasks · plan · insight · badges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03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8620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  <a:latin typeface="Calibri"/>
              </a:rPr>
              <a:t>/leaderboard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8056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5262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 endpoint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377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global · weekly · user-rank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703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88620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  <a:latin typeface="Calibri"/>
              </a:rPr>
              <a:t>/progress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448056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5262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377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weekly · monthly · category breakdown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703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88620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EA5E9"/>
                </a:solidFill>
                <a:latin typeface="Calibri"/>
              </a:rPr>
              <a:t>/users/me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448056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52628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13 endpoint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9377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profile · data · export · sync · delete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Auth: JWT Bearer (HMAC-SHA256) · Validatsiya: Pydantic v2 · Rate limit: 60/min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Joylashtirish (CI/CD)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Avtomatik: git push → live 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048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237744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Flutter + FastAPI
lokal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3383280"/>
            <a:ext cx="320040" cy="0"/>
          </a:xfrm>
          <a:prstGeom prst="bentConnector3">
            <a:avLst/>
          </a:prstGeom>
          <a:ln w="317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17520" y="34747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git push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4688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048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468880"/>
            <a:ext cx="237744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5786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246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Push + Actions
Test + Review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3383280"/>
            <a:ext cx="320040" cy="0"/>
          </a:xfrm>
          <a:prstGeom prst="bentConnector3">
            <a:avLst/>
          </a:prstGeom>
          <a:ln w="317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15000" y="34747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webhook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4688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048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2468880"/>
            <a:ext cx="237744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5786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46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Webhook deploy
HTTPS auto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0" y="3383280"/>
            <a:ext cx="320040" cy="0"/>
          </a:xfrm>
          <a:prstGeom prst="bentConnector3">
            <a:avLst/>
          </a:prstGeom>
          <a:ln w="317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12480" y="347472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  <a:latin typeface="Calibri"/>
              </a:rPr>
              <a:t>TCP/TLS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24688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048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32520" y="2468880"/>
            <a:ext cx="2377440" cy="502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25786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246120"/>
            <a:ext cx="2011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Atlas Singapore
M0 · backup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29200"/>
            <a:ext cx="5394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166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FOYDALANUVCHILAR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48640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iOS + Android · HTTPS REST API + JWT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029200"/>
            <a:ext cx="53949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166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AI PROVIDERLAR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48640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OpenAI + Gemini + Groq · multi-fallback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Xavfsizlik me'morchiligi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Defense-in-depth — 6 qatlam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65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Transport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TLS 1.3 · Let's Encrypt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192024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84248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965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JWT Bearer · HMAC-SHA256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92024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984248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96596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Parol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9748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bcrypt · work factor 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03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95928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9776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Validatsiya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0916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Pydantic v2 · type-safe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703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0" y="3931920"/>
            <a:ext cx="594360" cy="5943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995928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9776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70916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Atlas IP whitelist · at-rest enc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703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66760" y="3931920"/>
            <a:ext cx="594360" cy="59436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995928"/>
            <a:ext cx="594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97764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Rate limit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709160"/>
            <a:ext cx="3200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60/min · AI 30/h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OWASP Top 10 zaifliklari ro'yxati to'liq qoplangan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Sinov natijalari ·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n = 15 ishtirokchi · 7 kunlik foydalanish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SUS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79.4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Standart ≥ 68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92024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96596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Yaxshi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NPS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+42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8346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Standart ≥ 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92024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96596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Yaxshi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74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Bajarish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9456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67 %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8346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Standart ≥ 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07040" y="192024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0" y="196596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Yaxshi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03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862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AI 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8.1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Standart ≥ 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393192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97764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Yaxshi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3703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8862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Kunlik kirish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20624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4F46E5"/>
                </a:solidFill>
                <a:latin typeface="Calibri"/>
              </a:rPr>
              <a:t>3.8 / kun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8463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Standart ≥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2280" y="393192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397764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A'lo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70332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8862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Cold start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20624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F4444"/>
                </a:solidFill>
                <a:latin typeface="Calibri"/>
              </a:rPr>
              <a:t>35-55 sek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8463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Ideal &lt; 5 sek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07040" y="3931920"/>
            <a:ext cx="1005840" cy="36576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397764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Cheklov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Foydalanish dinamikasi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7 kunlik kirish chastotasi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5486400"/>
            <a:ext cx="10332720" cy="0"/>
          </a:xfrm>
          <a:prstGeom prst="bentConnector3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4023360.0"/>
            <a:ext cx="10332720" cy="0.0"/>
          </a:xfrm>
          <a:prstGeom prst="bentConnector3">
            <a:avLst/>
          </a:prstGeom>
          <a:ln w="19050">
            <a:solidFill>
              <a:srgbClr val="EF4444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61120" y="37033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EF4444"/>
                </a:solidFill>
                <a:latin typeface="Calibri"/>
              </a:rPr>
              <a:t>Soha standarti (≥ 2/kun)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5890" y="3950208"/>
            <a:ext cx="914400" cy="15361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5890" y="353872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5890" y="55778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1-kun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11780" y="2999232"/>
            <a:ext cx="914400" cy="24871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1780" y="258775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3.4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1780" y="55778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2-kun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7670" y="2633472"/>
            <a:ext cx="914400" cy="2852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7670" y="222199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3.9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7670" y="55778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3-kun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0" y="2414015"/>
            <a:ext cx="914400" cy="307238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0" y="2002535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4.2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55778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4-kun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29450" y="2706624"/>
            <a:ext cx="914400" cy="27797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9450" y="22951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3.8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9450" y="55778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5-kun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35340" y="2487168"/>
            <a:ext cx="914400" cy="29992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5340" y="207568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4.1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5340" y="55778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6-kun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1230" y="2706624"/>
            <a:ext cx="914400" cy="27797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41230" y="229514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3.8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1230" y="55778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7-kun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4F46E5"/>
                </a:solidFill>
                <a:latin typeface="Calibri"/>
              </a:rPr>
              <a:t>2-kundan boshlab standartdan ustun · 4-kunga 'odat shakllanishi' yetadi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MotivAI ning afzalliklari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Nima uchun innovatsion?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2082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O'zbek tilida lokallashtirilgan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7744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700+ tarjima kaliti · 3 til real-time switch · mahalliy kontekst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916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2082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87452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Multi-provider AI fallback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37744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OpenAI → Gemini → Groq · 99.6% uptime · quota cheklovi yo'q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004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47472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2958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3832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Real vaqtdagi shaxsiylashtirish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862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MVF har so'rovda qayta hisoblab · profil dinamik yangilanadi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004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347472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52958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3832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Psixologik nazariyalar bazasi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88620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SDT + Flow Theory + Gamification matematik formalizatsiyasi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0916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9834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0383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8920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Cross-platform yagona kod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3949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Flutter · iOS+Android · 64.8 MB APK · Skia native render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70916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498348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0383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48920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Ochiq manba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394960"/>
            <a:ext cx="4480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GitHub · MIT litsenziya · modulli kengaytiriladigan arxitektura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Ilmiy yangiliklar va hissalar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Loyihaning original ko'rsatkichlari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0E7FF"/>
                </a:solidFill>
                <a:latin typeface="Calibri"/>
              </a:rPr>
              <a:t>ASOSIY ILMIY YANGILIK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O'zbek tilida ishlovchi, multi-provider AI fallback va psixologik gamifikatsiyani birlashtirgan to'liq funksional mobil platforma — O'zbekistonda birinchi marta yaratildi.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649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MVF gibrid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NDCG@5 = 0.78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47472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Sanoat darajasidagi tavsiya sifati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004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36499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Multi-AI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8862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3 provider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47472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Yangi turdagi fallback arxitektura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7375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Empirik baholash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949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SUS = 79.4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98348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Soha standartidan 16.8% ustun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0916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7375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Calibri"/>
              </a:rPr>
              <a:t>Lokallashtirish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39496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Calibri"/>
              </a:rPr>
              <a:t>700+ kalit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983480"/>
            <a:ext cx="2697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3 tilda to'liq native qo'llab-quvvatlash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Calibri"/>
              </a:rPr>
              <a:t>Xulosa va kelajakdagi yo'nalishlar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  ERISHILGAN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33 endpoint · 94 ms o'rtacha javob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MVF NDCG@5 = 0.78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99.6% uptime (multi-provider AI)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SUS = 79.4 · NPS = +42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iOS+Android yagona kod bazasi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Render bepul tier'da ishlaydi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700+ tarjima kaliti · 3 til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4406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→  KELAJAK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BERT4Rec transformer (+8-12% NDCG)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Hive/Isar — offline rejim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FCM push bildirishnomalar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Redis kesh — AI 60-70% tezroq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HEMIS integratsiya (universitet)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A/B testlash platforma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Calibri"/>
              </a:rPr>
              <a:t>•  </a:t>
            </a:r>
            <a:r>
              <a:rPr sz="1200">
                <a:solidFill>
                  <a:srgbClr val="1F2937"/>
                </a:solidFill>
                <a:latin typeface="Calibri"/>
              </a:rPr>
              <a:t>300+ talaba · 6 oylik kengaytirilgan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MotivAI · Abduvaliyev Samandar · TATU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RAHMAT!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1">
                <a:solidFill>
                  <a:srgbClr val="E0E7FF"/>
                </a:solidFill>
                <a:latin typeface="Calibri"/>
              </a:rPr>
              <a:t>Savol va takliflar uchun ochiqman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4343400"/>
            <a:ext cx="484632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44805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  <a:latin typeface="Calibri"/>
              </a:rPr>
              <a:t>Abduvaliyev Samandar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8920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F46E5"/>
                </a:solidFill>
                <a:latin typeface="Calibri"/>
              </a:rPr>
              <a:t>github.com/AbduvaliyevSamandar/motivai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3035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elmurodovmaxmud77@gmail.com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